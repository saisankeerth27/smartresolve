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005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0EA5E9"/>
                </a:solidFill>
                <a:latin typeface="Calibri"/>
              </a:rPr>
              <a:t>AI-ASSISTED TELECOM OPERATIONS  ·  DETERMINISTIC RULES  ·  HUMAN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SmartResolve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100" b="0">
                <a:solidFill>
                  <a:srgbClr val="E0F2FE"/>
                </a:solidFill>
                <a:latin typeface="Calibri"/>
              </a:rPr>
              <a:t>Telecom Operations Resolution Assistant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Grounded recommendations. Human decisions.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80560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TRACK 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4480560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PS04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4608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GRADER / AUDIENCE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4864608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Hackathon Evaluation Panel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248656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5248656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FastAPI · Gemini · FAISS · React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632704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MODES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5632704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Mode A · Mode B · Mode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016752"/>
            <a:ext cx="2377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0EA5E9"/>
                </a:solidFill>
                <a:latin typeface="Calibri"/>
              </a:rPr>
              <a:t>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6016752"/>
            <a:ext cx="73152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SmartResolve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92640" y="5943600"/>
            <a:ext cx="1920240" cy="457200"/>
          </a:xfrm>
          <a:prstGeom prst="roundRect">
            <a:avLst/>
          </a:prstGeom>
          <a:solidFill>
            <a:srgbClr val="12365F"/>
          </a:solidFill>
          <a:ln w="1524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  TRACK_ID=PS04 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Tier-1 Telecom Support at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High ticket volume with low signal: most L0/L1 queries are routine and repetitive.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Manual triage burns agent time on classification and context-gathering instead of resolution.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Context loss on escalation: customers repeat everything and specialists re-investigate from scratch.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Inconsistent answer quality that depends on individual agent knowledge rather than live operational data.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Generic AI chat rescues are not grounded: they ignore account, network and policy facts — and can fabricate.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Calibri"/>
              </a:rPr>
              <a:t>      – </a:t>
            </a:r>
            <a:r>
              <a:rPr sz="1400">
                <a:solidFill>
                  <a:srgbClr val="64748B"/>
                </a:solidFill>
                <a:latin typeface="Calibri"/>
              </a:rPr>
              <a:t>Agents need a system that retrieves real operational facts, reasons safely and documents every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SmartResolve — One Grounded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Grounded, cited recommendations prepared for human review — never auto-resolved to the customer.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A human operator always makes the final decision (Approve, Edit, Dismiss, Escalate).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Operational facts always take priority over unsupported AI claims (deterministic over AI).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LLM never overrides safety — escalation rules cannot be bypassed by AI output.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Works even without Gemini, without FAISS, or without complete customer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Clean, Testable, Human-in-the-Loop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0881360" cy="658368"/>
          </a:xfrm>
          <a:prstGeom prst="roundRect">
            <a:avLst/>
          </a:prstGeom>
          <a:solidFill>
            <a:srgbClr val="123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FRONTEND   </a:t>
            </a:r>
            <a:r>
              <a:rPr sz="1100">
                <a:solidFill>
                  <a:srgbClr val="DBEAFF"/>
                </a:solidFill>
                <a:latin typeface="Calibri"/>
              </a:rPr>
              <a:t>React 19 + TypeScript + Vite + Tailwind — Overview, Cases, Agent Console, Chat, Knowledge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06440" y="2286000"/>
            <a:ext cx="548640" cy="292608"/>
          </a:xfrm>
          <a:prstGeom prst="down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2560320"/>
            <a:ext cx="10881360" cy="658368"/>
          </a:xfrm>
          <a:prstGeom prst="roundRect">
            <a:avLst/>
          </a:prstGeom>
          <a:solidFill>
            <a:srgbClr val="123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API &amp; APP   </a:t>
            </a:r>
            <a:r>
              <a:rPr sz="1100">
                <a:solidFill>
                  <a:srgbClr val="DBEAFF"/>
                </a:solidFill>
                <a:latin typeface="Calibri"/>
              </a:rPr>
              <a:t>FastAPI + Uvicorn + Pydantic — REST endpoints, CORS, static frontend serving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06440" y="3246120"/>
            <a:ext cx="548640" cy="292608"/>
          </a:xfrm>
          <a:prstGeom prst="down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10881360" cy="777240"/>
          </a:xfrm>
          <a:prstGeom prst="round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CORE SERVICES   </a:t>
            </a:r>
            <a:r>
              <a:rPr sz="1100">
                <a:solidFill>
                  <a:srgbClr val="DBEAFF"/>
                </a:solidFill>
                <a:latin typeface="Calibri"/>
              </a:rPr>
              <a:t>Deterministic Classification  ·  FAISS Retrieval  ·  Gemini Reasoning  ·  Resolution Rules  ·  Audit Trail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806440" y="4325112"/>
            <a:ext cx="548640" cy="292608"/>
          </a:xfrm>
          <a:prstGeom prst="downArrow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7680960" cy="658368"/>
          </a:xfrm>
          <a:prstGeom prst="roundRect">
            <a:avLst/>
          </a:prstGeom>
          <a:solidFill>
            <a:srgbClr val="1236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DATA &amp; AI   </a:t>
            </a:r>
            <a:r>
              <a:rPr sz="1100">
                <a:solidFill>
                  <a:srgbClr val="DBEAFF"/>
                </a:solidFill>
                <a:latin typeface="Calibri"/>
              </a:rPr>
              <a:t>SQLite (18 tables)          ·          FAISS index (195 chunks)          ·          Markdown KB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4617720"/>
            <a:ext cx="3063240" cy="658368"/>
          </a:xfrm>
          <a:prstGeom prst="roundRect">
            <a:avLst/>
          </a:prstGeom>
          <a:solidFill>
            <a:srgbClr val="0A1E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/>
          <a:lstStyle/>
          <a:p>
            <a:pPr algn="l"/>
            <a:r>
              <a:rPr b="1" sz="1300">
                <a:solidFill>
                  <a:srgbClr val="FFFFFF"/>
                </a:solidFill>
                <a:latin typeface="Calibri"/>
              </a:rPr>
              <a:t>GEMINI   </a:t>
            </a:r>
            <a:r>
              <a:rPr sz="1100">
                <a:solidFill>
                  <a:srgbClr val="DBEAFF"/>
                </a:solidFill>
                <a:latin typeface="Calibri"/>
              </a:rPr>
              <a:t>gemini-3.5-flash (text)   +   gemini-embedding-001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Calibri"/>
              </a:rPr>
              <a:t>Prebuilt frontend (frontend/dist) is served by the same FastAPI process — one service, deployable anywhere.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OPERATING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Three Modes, One Customer Journey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520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520440" cy="713232"/>
          </a:xfrm>
          <a:prstGeom prst="roundRect">
            <a:avLst/>
          </a:prstGeom>
          <a:solidFill>
            <a:srgbClr val="0F9D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 A  —  ROUTINE GROUNDED RESOLUTION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30632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0F9D58"/>
                </a:solidFill>
                <a:latin typeface="Calibri"/>
              </a:rPr>
              <a:t>WHEN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Clear request, strong retrieval, eligible account, no conflicts.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0F9D58"/>
                </a:solidFill>
                <a:latin typeface="Calibri"/>
              </a:rPr>
              <a:t>WHAT HAPPENS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Ground-truth draft prepared for human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61688" y="1828800"/>
            <a:ext cx="3520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1688" y="1828800"/>
            <a:ext cx="3520440" cy="713232"/>
          </a:xfrm>
          <a:prstGeom prst="roundRect">
            <a:avLst/>
          </a:prstGeom>
          <a:solidFill>
            <a:srgbClr val="FF9F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 B  —  MISSING INFORMATION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743200"/>
            <a:ext cx="30632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FF9F0A"/>
                </a:solidFill>
                <a:latin typeface="Calibri"/>
              </a:rPr>
              <a:t>WHEN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Ambiguous request or weak retrieval.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FF9F0A"/>
                </a:solidFill>
                <a:latin typeface="Calibri"/>
              </a:rPr>
              <a:t>WHAT HAPPENS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One targeted clarifying question per turn (max 3, then escalate).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1828800"/>
            <a:ext cx="3520440" cy="36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83296" y="1828800"/>
            <a:ext cx="3520440" cy="713232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MODE C  —  HUMAN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1896" y="2743200"/>
            <a:ext cx="3063240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WHEN</a:t>
            </a:r>
          </a:p>
          <a:p>
            <a:pPr algn="l">
              <a:lnSpc>
                <a:spcPct val="106000"/>
              </a:lnSpc>
              <a:spcAft>
                <a:spcPts val="10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Conflicts, repeats, enterprise, incidents, sensitive cases.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100" b="1">
                <a:solidFill>
                  <a:srgbClr val="DC2626"/>
                </a:solidFill>
                <a:latin typeface="Calibri"/>
              </a:rPr>
              <a:t>WHAT HAPPENS</a:t>
            </a:r>
          </a:p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50" b="0">
                <a:solidFill>
                  <a:srgbClr val="1F2937"/>
                </a:solidFill>
                <a:latin typeface="Calibri"/>
              </a:rPr>
              <a:t>Complete handover package routed to the right specialist queue.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12365F"/>
                </a:solidFill>
                <a:latin typeface="Calibri"/>
              </a:rPr>
              <a:t>Every mode ends in a human decision — SmartResolve recommends, never auto-resolves.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CLASSIFICATION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Deterministic Rules, Configurable Thresholds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Rule precedence (highest first): data integrity → sensitive/legal/safety → conflicting evidence → active major incident → repeat complaint → enterprise/high-impact → network degradation → retrieval quality → account eligibility → mode selection.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All thresholds configurable via environment variables.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251960"/>
          <a:ext cx="56235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777240"/>
                <a:gridCol w="269748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marL="73152" marR="73152" marT="27432" marB="27432"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DEFAULT</a:t>
                      </a:r>
                    </a:p>
                  </a:txBody>
                  <a:tcPr marL="73152" marR="73152" marT="27432" marB="27432"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3152" marR="73152" marT="27432" marB="27432">
                    <a:solidFill>
                      <a:srgbClr val="0A1E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SAFE_RETRIEVAL_THRESHOLD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0.35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Minimum retrieval score for Mode A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STRONG_RETRIEVAL_THRESHOLD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0.55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Confident retrieval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REPEAT_COMPLAINT_THRESHOLD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Prior tickets before escalation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CLARIFICATION_MAX_TURNS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Max Mode B rounds before escalate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SENSITIVE_BILLING_LIMIT_INR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Billing review trigger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RETRIEVAL &amp;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Local RAG — Grounded, Cited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Markdown knowledge documents → deterministic chunking → Gemini Embedding 001 → FAISS index (195 chunks).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Every grounded draft carries citations back to knowledge articles and evidence records.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Weak / missing retrieval cannot produce a draft — the case is clarified or escalated instead.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Fully offline-fallible: if FAISS or embeddings are unavailable the system degrades to safe fallbacks, never false answers.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STATE MACHINE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Every Action Is Enforced and Recorded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Pipeline: new → analyzing → needs_information ⇄ analyzing → pending_agent_approval → approved → resolved.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Escalation path: escalation_requested → human_review → approved / dismissed.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Audit events include case_created, mode_selected, retrieval_performed, clarification_asked/answered, draft_generated, recommendation_approved/dismissed, case_resolved, ai_called/failed, conflict_detected.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Conflict detection blocks drafting on ticket/subscription, site/incident, or overlapping incident conflicts.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434840"/>
          <a:ext cx="562356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65760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STATE</a:t>
                      </a:r>
                    </a:p>
                  </a:txBody>
                  <a:tcPr marL="73152" marR="73152" marT="27432" marB="27432"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73152" marR="73152" marT="27432" marB="27432">
                    <a:solidFill>
                      <a:srgbClr val="0A1E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pending_agent_approval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Routine draft ready for human decision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approved → resolved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Agent-approved resolution recorded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escalation_requested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Routed to a specialist queue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human_review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Specialist workspace with full context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dismissed / resolved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Reopen allowed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AGENT CONSOLE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Professional 3-Panel Support Workspace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Left — Support queue: case ID, customer, issue, priority, mode/status with filters (All, Routine, Needs Information, Human Review, Pending Approval, Resolved, Analyzing).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Center — Case workspace: Analyze, mode-specific panels, conversation transcript, classification details, audit trail.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Right — Customer &amp; account context: service, network site, incidents, investigation status.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Mode displays: Mode A green grounded draft with Approve/Dismiss/Escalate — Mode B amber question panel — Mode C red handover panel with Open Human Review.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CUSTOMER CHAT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Chat Through the Full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Flow: customer message → retrieve → classify → Mode A/B/C → response.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Mode A prepares a grounded draft; Mode B asks one targeted question; Mode C sends a calm handoff message and builds the escalation package.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500" b="1">
                <a:solidFill>
                  <a:srgbClr val="0EA5E9"/>
                </a:solidFill>
                <a:latin typeface="Calibri"/>
              </a:rPr>
              <a:t>▸  </a:t>
            </a:r>
            <a:r>
              <a:rPr sz="1500">
                <a:solidFill>
                  <a:srgbClr val="1F2937"/>
                </a:solidFill>
                <a:latin typeface="Calibri"/>
              </a:rPr>
              <a:t>The Agent Console updates instantly with the new case, full transcript, customer context and mode-specific actions.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4251960"/>
          <a:ext cx="5577840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377440"/>
                <a:gridCol w="2743200"/>
              </a:tblGrid>
              <a:tr h="31089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 marL="73152" marR="73152" marT="27432" marB="27432"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GREEN / AMBER / RED</a:t>
                      </a:r>
                    </a:p>
                  </a:txBody>
                  <a:tcPr marL="73152" marR="73152" marT="27432" marB="27432">
                    <a:solidFill>
                      <a:srgbClr val="0A1E3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THE CUSTOMER SEES</a:t>
                      </a:r>
                    </a:p>
                  </a:txBody>
                  <a:tcPr marL="73152" marR="73152" marT="27432" marB="27432">
                    <a:solidFill>
                      <a:srgbClr val="0A1E3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Green grounded resolution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Draft ready for agent approval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Amber clarification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One targeted question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Red escalation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F2937"/>
                          </a:solidFill>
                          <a:latin typeface="Calibri"/>
                        </a:rPr>
                        <a:t>Calm handoff message</a:t>
                      </a:r>
                    </a:p>
                  </a:txBody>
                  <a:tcPr marL="73152" marR="73152" marT="27432" marB="27432"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Builds That Fail Safely, Covered by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Gemini timeout / invalid JSON / empty response → deterministic fallback or escalation; Mode A never fabricates a draft.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Mode B falls back to proven clarify questions; Mode C handover packages work without Gemini.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42 pytest tests pass: classification, escalation matrix, conflicts, state machine, clarification, E2E workflows.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Synthetic India dataset: 55 customers, 4 providers (Jio/Airtel/Vi/BSNL), 30 network sites, 12 incidents, 115 tickets, INR plans, +91 numbers.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18-table relational schema with full history, audit and chat state.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0EA5E9"/>
                </a:solidFill>
                <a:latin typeface="Calibri"/>
              </a:rPr>
              <a:t>OUTCOMES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900" b="1">
                <a:solidFill>
                  <a:srgbClr val="0A1E3C"/>
                </a:solidFill>
                <a:latin typeface="Calibri"/>
              </a:rPr>
              <a:t>Measurable Operations Impact — and Where It Goes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9888"/>
            <a:ext cx="109728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Faster triage — deterministic classification in milliseconds, no Gemini dependency for routing.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Context-preserving handover — specialists understand the full problem without the customer repeating anything.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Transparent confidence — every recommendation shows its evidence, citations and limitations.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600" b="1">
                <a:solidFill>
                  <a:srgbClr val="0EA5E9"/>
                </a:solidFill>
                <a:latin typeface="Calibri"/>
              </a:rPr>
              <a:t>▸  </a:t>
            </a:r>
            <a:r>
              <a:rPr sz="1600">
                <a:solidFill>
                  <a:srgbClr val="1F2937"/>
                </a:solidFill>
                <a:latin typeface="Calibri"/>
              </a:rPr>
              <a:t>Safe by design — human-in-the-loop approval ensures the final decision is always human.</a:t>
            </a:r>
          </a:p>
          <a:p>
            <a:pPr>
              <a:lnSpc>
                <a:spcPct val="112000"/>
              </a:lnSpc>
              <a:spcAft>
                <a:spcPts val="600"/>
              </a:spcAft>
            </a:pPr>
            <a:r>
              <a:rPr sz="1400" b="1">
                <a:solidFill>
                  <a:srgbClr val="64748B"/>
                </a:solidFill>
                <a:latin typeface="Calibri"/>
              </a:rPr>
              <a:t>      – </a:t>
            </a:r>
            <a:r>
              <a:rPr sz="1400">
                <a:solidFill>
                  <a:srgbClr val="64748B"/>
                </a:solidFill>
                <a:latin typeface="Calibri"/>
              </a:rPr>
              <a:t>Next steps: deeper Gemini integration, multi-tenant rollout, LLM monitoring/alerting, CI/CD deployment on Render, more knowledge domains.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SmartResolve  ·  Telecom Operations  ·  TRACK_ID=PS04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Aft>
                <a:spcPts val="400"/>
              </a:spcAft>
            </a:pPr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